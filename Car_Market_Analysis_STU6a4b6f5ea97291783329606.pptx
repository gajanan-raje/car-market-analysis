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7" r:id="rId11"/>
    <p:sldId id="346" r:id="rId12"/>
    <p:sldId id="345" r:id="rId13"/>
    <p:sldId id="344" r:id="rId14"/>
    <p:sldId id="343" r:id="rId15"/>
    <p:sldId id="342" r:id="rId16"/>
    <p:sldId id="340" r:id="rId17"/>
    <p:sldId id="341"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8" d="100"/>
          <a:sy n="68" d="100"/>
        </p:scale>
        <p:origin x="732"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Gajanan-raje/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223526"/>
            <a:ext cx="3400089" cy="861497"/>
          </a:xfrm>
        </p:spPr>
        <p:txBody>
          <a:bodyPr/>
          <a:lstStyle/>
          <a:p>
            <a:pPr algn="r"/>
            <a:r>
              <a:rPr lang="en-US" b="0" dirty="0">
                <a:solidFill>
                  <a:schemeClr val="tx1"/>
                </a:solidFill>
              </a:rPr>
              <a:t> Gajanan Harinarayan Raje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GB" sz="3200" dirty="0"/>
              <a:t>Car Market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312871" y="3256384"/>
            <a:ext cx="3176362" cy="923330"/>
          </a:xfrm>
          <a:prstGeom prst="rect">
            <a:avLst/>
          </a:prstGeom>
          <a:noFill/>
        </p:spPr>
        <p:txBody>
          <a:bodyPr wrap="square" rtlCol="0">
            <a:spAutoFit/>
          </a:bodyPr>
          <a:lstStyle/>
          <a:p>
            <a:r>
              <a:rPr lang="en-US" b="1" dirty="0"/>
              <a:t>AICTE STU ID-STU6a4b6f5ea97291783329606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55000" lnSpcReduction="20000"/>
          </a:bodyPr>
          <a:lstStyle/>
          <a:p>
            <a:pPr>
              <a:lnSpc>
                <a:spcPct val="150000"/>
              </a:lnSpc>
            </a:pPr>
            <a:r>
              <a:rPr lang="en-US" sz="2800" dirty="0"/>
              <a:t>The used-car market has vehicles with varying prices, fuel types, and usage levels, making it hard to know which factors most affect selling price.</a:t>
            </a:r>
          </a:p>
          <a:p>
            <a:pPr>
              <a:lnSpc>
                <a:spcPct val="150000"/>
              </a:lnSpc>
            </a:pPr>
            <a:endParaRPr lang="en-US" sz="2800" dirty="0"/>
          </a:p>
          <a:p>
            <a:pPr>
              <a:lnSpc>
                <a:spcPct val="150000"/>
              </a:lnSpc>
            </a:pPr>
            <a:r>
              <a:rPr lang="en-US" sz="2800" dirty="0"/>
              <a:t>This project analyzes historical Car Dekho data to identify key market trends and pricing patterns.</a:t>
            </a:r>
          </a:p>
          <a:p>
            <a:pPr>
              <a:lnSpc>
                <a:spcPct val="150000"/>
              </a:lnSpc>
            </a:pPr>
            <a:endParaRPr lang="en-US" sz="2800" dirty="0"/>
          </a:p>
          <a:p>
            <a:pPr>
              <a:lnSpc>
                <a:spcPct val="150000"/>
              </a:lnSpc>
            </a:pPr>
            <a:r>
              <a:rPr lang="en-US" sz="2800" dirty="0"/>
              <a:t>The goal is to provide data-driven insights that support better buying, selling, and pricing decisions.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200" dirty="0"/>
              <a:t>This project focuses on analyzing Car Dekho used-car data using data analysis and visualization techniques. The dataset contains information such as car name, manufacturing year, selling price, present price, kilometers driven, fuel type, seller type, transmission, and number of previous owners.</a:t>
            </a:r>
            <a:br>
              <a:rPr lang="en-US" sz="2200" dirty="0"/>
            </a:br>
            <a:br>
              <a:rPr lang="en-US" sz="2200" dirty="0"/>
            </a:br>
            <a:r>
              <a:rPr lang="en-US" sz="2200" dirty="0"/>
              <a:t>The analysis explores relationships between these variables and identifies the major factors influencing used-car prices, helping stakeholders understand market trends and make informed decisions.</a:t>
            </a:r>
            <a:r>
              <a:rPr lang="en-GB" sz="2200" dirty="0"/>
              <a:t> </a:t>
            </a: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0000" lnSpcReduction="20000"/>
          </a:bodyPr>
          <a:lstStyle/>
          <a:p>
            <a:pPr algn="just">
              <a:lnSpc>
                <a:spcPct val="150000"/>
              </a:lnSpc>
            </a:pPr>
            <a:r>
              <a:rPr lang="en-US" sz="4000" dirty="0"/>
              <a:t>Car Buyers – to compare cars and identify reasonable prices.</a:t>
            </a:r>
          </a:p>
          <a:p>
            <a:pPr algn="just">
              <a:lnSpc>
                <a:spcPct val="150000"/>
              </a:lnSpc>
            </a:pPr>
            <a:endParaRPr lang="en-US" sz="4000" dirty="0"/>
          </a:p>
          <a:p>
            <a:pPr algn="just">
              <a:lnSpc>
                <a:spcPct val="150000"/>
              </a:lnSpc>
            </a:pPr>
            <a:r>
              <a:rPr lang="en-US" sz="4000" dirty="0"/>
              <a:t>Car Sellers – to estimate competitive selling prices.</a:t>
            </a:r>
          </a:p>
          <a:p>
            <a:pPr algn="just">
              <a:lnSpc>
                <a:spcPct val="150000"/>
              </a:lnSpc>
            </a:pPr>
            <a:endParaRPr lang="en-US" sz="4000" dirty="0"/>
          </a:p>
          <a:p>
            <a:pPr algn="just">
              <a:lnSpc>
                <a:spcPct val="150000"/>
              </a:lnSpc>
            </a:pPr>
            <a:r>
              <a:rPr lang="en-US" sz="4000" dirty="0"/>
              <a:t>Car Dealers – to understand demand and pricing trends.</a:t>
            </a:r>
          </a:p>
          <a:p>
            <a:pPr algn="just">
              <a:lnSpc>
                <a:spcPct val="150000"/>
              </a:lnSpc>
            </a:pPr>
            <a:endParaRPr lang="en-US" sz="4000" dirty="0"/>
          </a:p>
          <a:p>
            <a:pPr algn="just">
              <a:lnSpc>
                <a:spcPct val="150000"/>
              </a:lnSpc>
            </a:pPr>
            <a:r>
              <a:rPr lang="en-US" sz="4000" dirty="0"/>
              <a:t>Used-Car Businesses – to support inventory and pricing decisions.</a:t>
            </a:r>
          </a:p>
          <a:p>
            <a:pPr algn="just">
              <a:lnSpc>
                <a:spcPct val="150000"/>
              </a:lnSpc>
            </a:pPr>
            <a:endParaRPr lang="en-US" sz="4000" dirty="0"/>
          </a:p>
          <a:p>
            <a:pPr algn="just">
              <a:lnSpc>
                <a:spcPct val="150000"/>
              </a:lnSpc>
            </a:pPr>
            <a:r>
              <a:rPr lang="en-US" sz="4000" dirty="0"/>
              <a:t>Data Analysts/Business Teams – to derive insights from automobile market data</a:t>
            </a:r>
            <a:r>
              <a:rPr lang="en-US" sz="3600" dirty="0"/>
              <a:t>.</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1000"/>
                                        <p:tgtEl>
                                          <p:spTgt spid="2">
                                            <p:txEl>
                                              <p:pRg st="6" end="6"/>
                                            </p:txEl>
                                          </p:spTgt>
                                        </p:tgtEl>
                                      </p:cBhvr>
                                    </p:animEffect>
                                    <p:anim calcmode="lin" valueType="num">
                                      <p:cBhvr>
                                        <p:cTn id="3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fade">
                                      <p:cBhvr>
                                        <p:cTn id="42" dur="1000"/>
                                        <p:tgtEl>
                                          <p:spTgt spid="2">
                                            <p:txEl>
                                              <p:pRg st="8" end="8"/>
                                            </p:txEl>
                                          </p:spTgt>
                                        </p:tgtEl>
                                      </p:cBhvr>
                                    </p:animEffect>
                                    <p:anim calcmode="lin" valueType="num">
                                      <p:cBhvr>
                                        <p:cTn id="43"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34347" y="1557758"/>
            <a:ext cx="9027702" cy="973015"/>
          </a:xfrm>
        </p:spPr>
        <p:txBody>
          <a:bodyPr/>
          <a:lstStyle/>
          <a:p>
            <a:pPr lvl="1">
              <a:lnSpc>
                <a:spcPct val="150000"/>
              </a:lnSpc>
            </a:pPr>
            <a:r>
              <a:rPr lang="en-IN" dirty="0"/>
              <a:t>Python, Pandas, Matplotlib, Seaborn, NumPy</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456C1F7F-3F00-FA3C-332D-1DF5E36E57E4}"/>
              </a:ext>
            </a:extLst>
          </p:cNvPr>
          <p:cNvPicPr>
            <a:picLocks noChangeAspect="1"/>
          </p:cNvPicPr>
          <p:nvPr/>
        </p:nvPicPr>
        <p:blipFill>
          <a:blip r:embed="rId4"/>
          <a:stretch>
            <a:fillRect/>
          </a:stretch>
        </p:blipFill>
        <p:spPr>
          <a:xfrm>
            <a:off x="947216" y="1275371"/>
            <a:ext cx="7315215" cy="45720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7A5D-6E58-3C71-0E68-DAD7D24041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7C29ED-CD5A-A079-4A83-813A426B62B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5D631C-8033-01AE-E98C-BAFCA56CC6B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A0D1DD9-4F76-D691-8145-747F2939FED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D6D0D78-A16E-E45A-E639-6FB03713A9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7471142-3683-BB71-1629-295FB4D60D8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CBCCDF03-B735-21A6-9D89-95EBC863CDD7}"/>
              </a:ext>
            </a:extLst>
          </p:cNvPr>
          <p:cNvPicPr>
            <a:picLocks noChangeAspect="1"/>
          </p:cNvPicPr>
          <p:nvPr/>
        </p:nvPicPr>
        <p:blipFill>
          <a:blip r:embed="rId4"/>
          <a:stretch>
            <a:fillRect/>
          </a:stretch>
        </p:blipFill>
        <p:spPr>
          <a:xfrm>
            <a:off x="1223888" y="1275371"/>
            <a:ext cx="7439471" cy="4572009"/>
          </a:xfrm>
          <a:prstGeom prst="rect">
            <a:avLst/>
          </a:prstGeom>
        </p:spPr>
      </p:pic>
    </p:spTree>
    <p:extLst>
      <p:ext uri="{BB962C8B-B14F-4D97-AF65-F5344CB8AC3E}">
        <p14:creationId xmlns:p14="http://schemas.microsoft.com/office/powerpoint/2010/main" val="103590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99AE9-6CF1-1312-C15D-B18844260A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CC51A7-231C-DD63-26A2-E23A8320A8A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38FE9F3-085B-A275-ADE1-DBEFF52869B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85EE940-BBD6-9472-BFA4-16DFC2F29F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B6A6368-EBE2-FE1F-31B0-4D18E170BA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F0B289-2514-7D0B-AE45-CE56F6B242D1}"/>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CF6E2D46-F912-505D-C155-03DB662BE87E}"/>
              </a:ext>
            </a:extLst>
          </p:cNvPr>
          <p:cNvPicPr>
            <a:picLocks noChangeAspect="1"/>
          </p:cNvPicPr>
          <p:nvPr/>
        </p:nvPicPr>
        <p:blipFill>
          <a:blip r:embed="rId4"/>
          <a:stretch>
            <a:fillRect/>
          </a:stretch>
        </p:blipFill>
        <p:spPr>
          <a:xfrm>
            <a:off x="693268" y="1201586"/>
            <a:ext cx="8163248" cy="4535857"/>
          </a:xfrm>
          <a:prstGeom prst="rect">
            <a:avLst/>
          </a:prstGeom>
        </p:spPr>
      </p:pic>
    </p:spTree>
    <p:extLst>
      <p:ext uri="{BB962C8B-B14F-4D97-AF65-F5344CB8AC3E}">
        <p14:creationId xmlns:p14="http://schemas.microsoft.com/office/powerpoint/2010/main" val="46716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8EE6-2DA2-91A2-B9C2-0641E6A979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65785D-D586-1538-7AE5-287EF1DEA76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6B81C2E-B0C6-FC20-EE78-C0B28B95410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FC5687F-7625-610F-355E-A0504747B27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3AEFB73-A343-40D6-94F2-C4E1A58214E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9D6F953-1AF2-1CC1-0F3F-0C174C5DD1B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E6C2B199-1DAA-C46A-0833-B209ADB8E8E0}"/>
              </a:ext>
            </a:extLst>
          </p:cNvPr>
          <p:cNvPicPr>
            <a:picLocks noChangeAspect="1"/>
          </p:cNvPicPr>
          <p:nvPr/>
        </p:nvPicPr>
        <p:blipFill>
          <a:blip r:embed="rId4"/>
          <a:stretch>
            <a:fillRect/>
          </a:stretch>
        </p:blipFill>
        <p:spPr>
          <a:xfrm>
            <a:off x="675957" y="1275371"/>
            <a:ext cx="7580148" cy="4572009"/>
          </a:xfrm>
          <a:prstGeom prst="rect">
            <a:avLst/>
          </a:prstGeom>
        </p:spPr>
      </p:pic>
    </p:spTree>
    <p:extLst>
      <p:ext uri="{BB962C8B-B14F-4D97-AF65-F5344CB8AC3E}">
        <p14:creationId xmlns:p14="http://schemas.microsoft.com/office/powerpoint/2010/main" val="166214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AB3A-15DC-6C22-E60D-5414C175EF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D18F3B-8888-6F6A-964E-0AEEA89976B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24F40D-7473-B6CD-5C0B-D5691F7FE62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D8ABFE4-4216-2297-19D2-B2A6452E811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226A4C8-1E4F-3124-8F05-B9866C520B9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E116EB-979C-769D-F6E4-92A11815E2B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BD428C7E-8D78-6AF7-A80E-FAF1E49C4CCD}"/>
              </a:ext>
            </a:extLst>
          </p:cNvPr>
          <p:cNvPicPr>
            <a:picLocks noChangeAspect="1"/>
          </p:cNvPicPr>
          <p:nvPr/>
        </p:nvPicPr>
        <p:blipFill>
          <a:blip r:embed="rId4"/>
          <a:stretch>
            <a:fillRect/>
          </a:stretch>
        </p:blipFill>
        <p:spPr>
          <a:xfrm>
            <a:off x="675957" y="1212137"/>
            <a:ext cx="7868534" cy="4572009"/>
          </a:xfrm>
          <a:prstGeom prst="rect">
            <a:avLst/>
          </a:prstGeom>
        </p:spPr>
      </p:pic>
    </p:spTree>
    <p:extLst>
      <p:ext uri="{BB962C8B-B14F-4D97-AF65-F5344CB8AC3E}">
        <p14:creationId xmlns:p14="http://schemas.microsoft.com/office/powerpoint/2010/main" val="3192886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B4231-D3CB-B1B6-B0CA-0FFCADF41B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7CD36E-7CA6-2FC6-1CA8-4718EB4AC5D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8C473AA-2C2C-5EE6-2380-2B8B02B8447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75676CA-F738-C019-6FBA-8296595C3E8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5EA6931-B535-ED7A-FC35-86B38291CE1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D633B5F-121C-BFD0-03BA-83CFC487F5D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09A0978F-9698-972B-693F-879A1C57D2B1}"/>
              </a:ext>
            </a:extLst>
          </p:cNvPr>
          <p:cNvPicPr>
            <a:picLocks noChangeAspect="1"/>
          </p:cNvPicPr>
          <p:nvPr/>
        </p:nvPicPr>
        <p:blipFill>
          <a:blip r:embed="rId4"/>
          <a:stretch>
            <a:fillRect/>
          </a:stretch>
        </p:blipFill>
        <p:spPr>
          <a:xfrm>
            <a:off x="675957" y="1201586"/>
            <a:ext cx="8811072" cy="4572009"/>
          </a:xfrm>
          <a:prstGeom prst="rect">
            <a:avLst/>
          </a:prstGeom>
        </p:spPr>
      </p:pic>
    </p:spTree>
    <p:extLst>
      <p:ext uri="{BB962C8B-B14F-4D97-AF65-F5344CB8AC3E}">
        <p14:creationId xmlns:p14="http://schemas.microsoft.com/office/powerpoint/2010/main" val="106637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19E43-613E-54FF-7B03-B96849F8D1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027000-2D4E-59E4-213D-8E21ADEE840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5DF98BB-8E6A-D1B0-94AC-0034564ACFE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B0C8444-D12E-E0CB-3EBE-79D12353C7C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576BD70-FF8A-4A1D-2A46-C58703384D4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E5CD359-9C0E-B744-9406-C0ECCAABB67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15CDA44A-C8B5-668D-C48D-D8BF375A093C}"/>
              </a:ext>
            </a:extLst>
          </p:cNvPr>
          <p:cNvPicPr>
            <a:picLocks noChangeAspect="1"/>
          </p:cNvPicPr>
          <p:nvPr/>
        </p:nvPicPr>
        <p:blipFill>
          <a:blip r:embed="rId4"/>
          <a:stretch>
            <a:fillRect/>
          </a:stretch>
        </p:blipFill>
        <p:spPr>
          <a:xfrm>
            <a:off x="549348" y="1275371"/>
            <a:ext cx="9077650" cy="4572009"/>
          </a:xfrm>
          <a:prstGeom prst="rect">
            <a:avLst/>
          </a:prstGeom>
        </p:spPr>
      </p:pic>
    </p:spTree>
    <p:extLst>
      <p:ext uri="{BB962C8B-B14F-4D97-AF65-F5344CB8AC3E}">
        <p14:creationId xmlns:p14="http://schemas.microsoft.com/office/powerpoint/2010/main" val="2178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49894255-0DEE-0F1C-FBFA-923D77C8D987}"/>
              </a:ext>
            </a:extLst>
          </p:cNvPr>
          <p:cNvPicPr>
            <a:picLocks noChangeAspect="1"/>
          </p:cNvPicPr>
          <p:nvPr/>
        </p:nvPicPr>
        <p:blipFill>
          <a:blip r:embed="rId4"/>
          <a:stretch>
            <a:fillRect/>
          </a:stretch>
        </p:blipFill>
        <p:spPr>
          <a:xfrm>
            <a:off x="923555" y="1275371"/>
            <a:ext cx="8150107" cy="45720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EDA220-A275-5502-87A0-957B48A3A70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1650A595-7D18-4974-88C0-2BF470159AA3}"/>
              </a:ext>
            </a:extLst>
          </p:cNvPr>
          <p:cNvPicPr>
            <a:picLocks noChangeAspect="1"/>
          </p:cNvPicPr>
          <p:nvPr/>
        </p:nvPicPr>
        <p:blipFill>
          <a:blip r:embed="rId4"/>
          <a:stretch>
            <a:fillRect/>
          </a:stretch>
        </p:blipFill>
        <p:spPr>
          <a:xfrm>
            <a:off x="675957" y="1097279"/>
            <a:ext cx="8620449" cy="5074925"/>
          </a:xfrm>
          <a:prstGeom prst="rect">
            <a:avLst/>
          </a:prstGeom>
        </p:spPr>
      </p:pic>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Box 3">
            <a:extLst>
              <a:ext uri="{FF2B5EF4-FFF2-40B4-BE49-F238E27FC236}">
                <a16:creationId xmlns:a16="http://schemas.microsoft.com/office/drawing/2014/main" id="{C19556CE-1911-598D-0D77-223FF464C3A3}"/>
              </a:ext>
            </a:extLst>
          </p:cNvPr>
          <p:cNvSpPr txBox="1"/>
          <p:nvPr/>
        </p:nvSpPr>
        <p:spPr>
          <a:xfrm>
            <a:off x="3038717" y="3119117"/>
            <a:ext cx="5186640" cy="1015663"/>
          </a:xfrm>
          <a:prstGeom prst="rect">
            <a:avLst/>
          </a:prstGeom>
          <a:noFill/>
        </p:spPr>
        <p:txBody>
          <a:bodyPr wrap="square">
            <a:spAutoFit/>
          </a:bodyPr>
          <a:lstStyle/>
          <a:p>
            <a:r>
              <a:rPr lang="en-US" sz="2000" dirty="0"/>
              <a:t>Thank you for your attention!</a:t>
            </a:r>
          </a:p>
          <a:p>
            <a:endParaRPr lang="en-US" sz="2000" dirty="0"/>
          </a:p>
          <a:p>
            <a:r>
              <a:rPr lang="en-US" sz="2000" dirty="0"/>
              <a:t>Gajanan | Car Market Analysis Project</a:t>
            </a:r>
            <a:endParaRPr lang="en-IN" sz="20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616</TotalTime>
  <Words>282</Words>
  <Application>Microsoft Office PowerPoint</Application>
  <PresentationFormat>Widescreen</PresentationFormat>
  <Paragraphs>47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Car Market Analysis </vt:lpstr>
      <vt:lpstr>PROBLEM  STATEMENT</vt:lpstr>
      <vt:lpstr>Project Description  This project focuses on analyzing Car Dekho used-car data using data analysis and visualization techniques. The dataset contains information such as car name, manufacturing year, selling price, present price, kilometers driven, fuel type, seller type, transmission, and number of previous owners.  The analysis explores relationships between these variables and identifies the major factors influencing used-car prices, helping stakeholders understand market trends and make informed decisions.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81</cp:revision>
  <dcterms:created xsi:type="dcterms:W3CDTF">2021-07-11T13:13:15Z</dcterms:created>
  <dcterms:modified xsi:type="dcterms:W3CDTF">2026-08-29T10:04:09Z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